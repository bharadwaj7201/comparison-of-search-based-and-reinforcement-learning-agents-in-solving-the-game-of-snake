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82" r:id="rId5"/>
    <p:sldId id="260" r:id="rId6"/>
    <p:sldId id="283" r:id="rId7"/>
    <p:sldId id="261" r:id="rId8"/>
    <p:sldId id="263" r:id="rId9"/>
    <p:sldId id="284" r:id="rId10"/>
    <p:sldId id="266" r:id="rId11"/>
    <p:sldId id="271" r:id="rId12"/>
    <p:sldId id="280" r:id="rId13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05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br>
                <a:rPr lang="en-US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endParaRPr lang="en-IN" sz="1600" dirty="0"/>
            </a:p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5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endParaRPr lang="en-US" sz="3800" u="none" strike="noStrike" spc="-57" dirty="0">
              <a:solidFill>
                <a:srgbClr val="20202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C81EF6EC-335F-92F9-038B-94DF400CA6D4}"/>
              </a:ext>
            </a:extLst>
          </p:cNvPr>
          <p:cNvGrpSpPr/>
          <p:nvPr/>
        </p:nvGrpSpPr>
        <p:grpSpPr>
          <a:xfrm>
            <a:off x="11201400" y="0"/>
            <a:ext cx="7086600" cy="10287000"/>
            <a:chOff x="0" y="0"/>
            <a:chExt cx="1220873" cy="1350966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08C2B2A-48E3-BB29-0DB0-ED36F848F0DA}"/>
                </a:ext>
              </a:extLst>
            </p:cNvPr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CE092B8-58FB-F86E-E59C-08E1D2CEB08A}"/>
              </a:ext>
            </a:extLst>
          </p:cNvPr>
          <p:cNvSpPr txBox="1"/>
          <p:nvPr/>
        </p:nvSpPr>
        <p:spPr>
          <a:xfrm>
            <a:off x="857250" y="2491556"/>
            <a:ext cx="92583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</a:t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Search-Based and Reinforcement Learning Agents in Solving the Game of Snake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09F6A5-3B60-DA5A-EBA8-0A9608ABA394}"/>
              </a:ext>
            </a:extLst>
          </p:cNvPr>
          <p:cNvSpPr txBox="1"/>
          <p:nvPr/>
        </p:nvSpPr>
        <p:spPr>
          <a:xfrm>
            <a:off x="885825" y="7917219"/>
            <a:ext cx="9258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Bharadwaj Gottimukkula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Dinesh Reddy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Kunduru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E8AC22-047E-8F50-1228-3C386D39710C}"/>
              </a:ext>
            </a:extLst>
          </p:cNvPr>
          <p:cNvSpPr txBox="1"/>
          <p:nvPr/>
        </p:nvSpPr>
        <p:spPr>
          <a:xfrm>
            <a:off x="666750" y="691488"/>
            <a:ext cx="92583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DSCI-6612-01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 to Artificial Intelligence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F2AC30-C299-2658-576B-B9749A20A58A}"/>
              </a:ext>
            </a:extLst>
          </p:cNvPr>
          <p:cNvSpPr txBox="1"/>
          <p:nvPr/>
        </p:nvSpPr>
        <p:spPr>
          <a:xfrm>
            <a:off x="3214687" y="6343161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Professor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Vahid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Behzadan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8600" y="941394"/>
            <a:ext cx="6886575" cy="93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202020"/>
                </a:solidFill>
                <a:latin typeface="Times New Roman" panose="02020603050405020304" pitchFamily="18" charset="0"/>
                <a:ea typeface="Georgia Pro Condensed"/>
                <a:cs typeface="Times New Roman" panose="02020603050405020304" pitchFamily="18" charset="0"/>
                <a:sym typeface="Georgia Pro Condensed"/>
              </a:rPr>
              <a:t>Project Objective</a:t>
            </a:r>
            <a:endParaRPr lang="en-US" sz="5400" b="1" u="none" strike="noStrike" dirty="0">
              <a:solidFill>
                <a:srgbClr val="202020"/>
              </a:solidFill>
              <a:latin typeface="Times New Roman" panose="02020603050405020304" pitchFamily="18" charset="0"/>
              <a:ea typeface="Georgia Pro Condensed"/>
              <a:cs typeface="Times New Roman" panose="02020603050405020304" pitchFamily="18" charset="0"/>
              <a:sym typeface="Georgia Pro Condensed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7B7E8D8-A7B4-E07A-999E-CAFB0B2A5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324100"/>
            <a:ext cx="85344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objective of this project is to design and evaluate two intelligent Snake-playing agents using Search-Based techniques and Reinforcement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aim to examine how each agent navigates, makes decisions, adapts to changing game states, and survives in the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focuses on comparing the performance, strengths, and limitations of classical path finding (BFS/A*) against modern learning-based methods (DQN).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goal is to determine which approach is more effective for real-time decision-making in dynamic environments.</a:t>
            </a:r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1A80EA16-F39D-D875-CB2A-EE913D18E98A}"/>
              </a:ext>
            </a:extLst>
          </p:cNvPr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4396022-2961-0376-A128-0A0847313382}"/>
                </a:ext>
              </a:extLst>
            </p:cNvPr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90536" y="1210535"/>
            <a:ext cx="7410451" cy="9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202020"/>
                </a:solidFill>
                <a:latin typeface="Times New Roman" panose="02020603050405020304" pitchFamily="18" charset="0"/>
                <a:ea typeface="Georgia Pro Condensed"/>
                <a:cs typeface="Times New Roman" panose="02020603050405020304" pitchFamily="18" charset="0"/>
                <a:sym typeface="Georgia Pro Condensed"/>
              </a:rPr>
              <a:t>Approach</a:t>
            </a:r>
            <a:endParaRPr lang="en-US" sz="5400" b="1" u="none" strike="noStrike" dirty="0">
              <a:solidFill>
                <a:srgbClr val="202020"/>
              </a:solidFill>
              <a:latin typeface="Times New Roman" panose="02020603050405020304" pitchFamily="18" charset="0"/>
              <a:ea typeface="Georgia Pro Condensed"/>
              <a:cs typeface="Times New Roman" panose="02020603050405020304" pitchFamily="18" charset="0"/>
              <a:sym typeface="Georgia Pro Condensed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74C81A7-553F-00AB-2758-AACA879BB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4" y="2552700"/>
            <a:ext cx="8796338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developed a unified Snake game environment to ensure fair evaluation between both agents.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Search-Based agent uses BFS and A* algorithms to compute optimal or safe paths toward the food.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Reinforcement Learning agent is built using a Deep Q-Network that learns gameplay behavior through repeated interactions and reward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Both agents were tested under identical conditions to compare efficiency, adaptability, stability, and overall performance.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EDE8EA83-BB8A-680E-4B0D-86FF4D0DA86E}"/>
              </a:ext>
            </a:extLst>
          </p:cNvPr>
          <p:cNvGrpSpPr/>
          <p:nvPr/>
        </p:nvGrpSpPr>
        <p:grpSpPr>
          <a:xfrm>
            <a:off x="9829800" y="0"/>
            <a:ext cx="8458200" cy="10287000"/>
            <a:chOff x="0" y="0"/>
            <a:chExt cx="814724" cy="1267949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0BFB258-99A3-43CC-535B-2503B2307042}"/>
                </a:ext>
              </a:extLst>
            </p:cNvPr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6F1B-016B-4F7B-BEE0-38ECF3012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24000" y="723900"/>
            <a:ext cx="7772400" cy="1393825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46D7B0-6CB4-273D-5851-A22FA91E53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6700" y="2705100"/>
            <a:ext cx="17754600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Project Documentation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Snake game environment and the design of both Search-Based and Reinforcement Learning (DQN) agents.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Development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implemented Search-Based algorithms (BFS, A*, safe-path logic) and Reinforcement Learning models using 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access to all project files including source code, models, documentation, and assets.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&amp; Showcase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PowerPoint summarizing objectives, methodology, agent designs, performance results, and conclusions.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5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38200" y="876300"/>
            <a:ext cx="13935075" cy="1162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0400"/>
              </a:lnSpc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Search-Based Agent</a:t>
            </a:r>
            <a:endParaRPr lang="en-US" sz="5400" b="1" spc="-240" dirty="0">
              <a:solidFill>
                <a:srgbClr val="202020"/>
              </a:solidFill>
              <a:latin typeface="Times New Roman" panose="02020603050405020304" pitchFamily="18" charset="0"/>
              <a:ea typeface="Georgia Pro Condensed"/>
              <a:cs typeface="Times New Roman" panose="02020603050405020304" pitchFamily="18" charset="0"/>
              <a:sym typeface="Georgia Pro Condensed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484D0AC-9DBA-DFD1-ED81-DA3949DEF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47900"/>
            <a:ext cx="16687800" cy="7391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(Breadth-First Search)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to Food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is used to compute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possible path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snake’s head to the food by exploring the grid level-by-level.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ensures that if a path exists, BFS will always find the most optimal one in terms of number of moves.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treats every move (up, down, left, right) as having equal cost, making it ideal for uniform grid-based movement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project, BFS is used for: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direct, optimal routes to food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whether safe paths exist in the current grid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 evaluating reachable and unreachable areas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82A7-B396-1CFB-2A3F-B8D7BCC2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9600" y="876300"/>
            <a:ext cx="8229600" cy="1143000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Search-Based Agent</a:t>
            </a:r>
            <a:br>
              <a:rPr lang="en-US" sz="5400" b="1" spc="-240" dirty="0">
                <a:solidFill>
                  <a:srgbClr val="202020"/>
                </a:solidFill>
                <a:latin typeface="Times New Roman" panose="02020603050405020304" pitchFamily="18" charset="0"/>
                <a:ea typeface="Georgia Pro Condensed"/>
                <a:cs typeface="Times New Roman" panose="02020603050405020304" pitchFamily="18" charset="0"/>
                <a:sym typeface="Georgia Pro Condensed"/>
              </a:rPr>
            </a:b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08348-710F-ACEA-F54A-327F35D9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38300"/>
            <a:ext cx="17221200" cy="841216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Efficient Pathfinding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the actual path cost 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a heuristic estimate 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moves, allowing it to find optimal paths more efficiently than BFS.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uses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Manhattan distance heuristic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fits perfectly with Snake’s grid-based movement and helps guide the search toward the food.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expands far fewer nodes than BFS, making it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efficient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when the snake grows and the grid becomes more complex.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dynamically considers obstacles such as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body segments and walls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recalculating optimal paths as the environment changes each step.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highly efficient, A* may still lead the snake into dead-ends, so the project integrates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safe-path simulation and tail-following strategies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unsafe paths.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is used when: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search time is required.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potential paths exist and need prioritization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must efficiently navigate around obstacles (walls &amp; snake body)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24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8BA7904-F32E-0FA0-34B7-83BB1FFA4F56}"/>
              </a:ext>
            </a:extLst>
          </p:cNvPr>
          <p:cNvSpPr txBox="1"/>
          <p:nvPr/>
        </p:nvSpPr>
        <p:spPr>
          <a:xfrm>
            <a:off x="-3124200" y="1106239"/>
            <a:ext cx="128968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Reinforcement Learning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3765A9A-0DC4-E55B-5982-8D126154B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316226"/>
            <a:ext cx="9258300" cy="7417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DQN agent learns to play Snake by interacting with the environment and receiving rewards based on its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neural network predicts Q-values for each possible move, allowing the agent to choose the action that maximizes future rewards.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agent receives positive rewards for eating food, negative rewards for dying, and small rewards for surviving each 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time, the agent learns long-term survival behaviors, avoids dangerous patterns, and discovers strategies without explicit programming.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training requires time and computational effort, the RL agent becomes highly adaptable and capable of handling complex game scenarios</a:t>
            </a:r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1BA40187-1A6D-CC21-F7E0-65D6580C1614}"/>
              </a:ext>
            </a:extLst>
          </p:cNvPr>
          <p:cNvGrpSpPr/>
          <p:nvPr/>
        </p:nvGrpSpPr>
        <p:grpSpPr>
          <a:xfrm>
            <a:off x="9772650" y="0"/>
            <a:ext cx="8515350" cy="10287000"/>
            <a:chOff x="0" y="0"/>
            <a:chExt cx="1220873" cy="1350966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6D65706-9A56-327A-1296-808135AF7609}"/>
                </a:ext>
              </a:extLst>
            </p:cNvPr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8A00A2B-C705-7205-EE66-E89C07241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409700"/>
            <a:ext cx="9296400" cy="718235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Search-Based Pathfinding Workflow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5E45611-320C-CCF6-E80B-4F7A7813C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2339257"/>
            <a:ext cx="172974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agent reads the current game state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snake’s head position, body segments, walls, and food location, to understand the grid layout before planning the next move.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constructs a graph from all free cells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treating each available cell as a node and connecting it to its valid neighboring cells based on possible movements.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agent applies BFS or A*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compute the shortest or safest path to the food, where BFS explores level-by-level and A* uses the Manhattan heuristic to prioritize promising directions.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computed path is simulated step-by-step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verify that following this route will not trap the snake or block access to its tail after eating the food.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the path is unsafe, the agent switches to survival strategies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such as tail-following or choosing longer paths, before finally executing the next move based on the safest available 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76B8-1035-5726-2DFA-A16AA9ED5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8600" y="1104900"/>
            <a:ext cx="10972800" cy="106680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Reinforcement Learning Agent Workflow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EE0B99-AB99-6EC3-C5E6-D6C495822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2456021"/>
            <a:ext cx="174498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agent converts the current game state into a numerical feature vector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capturing information such as danger directions, snake direction, and food location relative to the snake’s head.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state vector is passed through the neural network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outputs Q-values representing the expected reward for each of the four possible actions (up, down, left, right).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agent selects an action using an ε-greedy policy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it either chooses a random action to explore or picks the action with the highest predicted Q-value to exploit learned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executing the action, the agent receives a reward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observes the next state, and stores this experience (state, action, reward, next state) in replay memory for future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agent updates its neural network through Q-learning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using sampled experiences from memory to minimize the loss and improve decision-making over thousands of iterations.</a:t>
            </a:r>
          </a:p>
        </p:txBody>
      </p:sp>
    </p:spTree>
    <p:extLst>
      <p:ext uri="{BB962C8B-B14F-4D97-AF65-F5344CB8AC3E}">
        <p14:creationId xmlns:p14="http://schemas.microsoft.com/office/powerpoint/2010/main" val="218057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4870B5-9339-DEDC-DEC9-F571A4498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17376"/>
              </p:ext>
            </p:extLst>
          </p:nvPr>
        </p:nvGraphicFramePr>
        <p:xfrm>
          <a:off x="800100" y="1714500"/>
          <a:ext cx="16687800" cy="81026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43059837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1676430752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771534401"/>
                    </a:ext>
                  </a:extLst>
                </a:gridCol>
              </a:tblGrid>
              <a:tr h="66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Search-Based Agent (BFS / A*)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Agent (DQN)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970749"/>
                  </a:ext>
                </a:extLst>
              </a:tr>
              <a:tr h="66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Strategy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Rule-based, 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from experience, adaptive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563565"/>
                  </a:ext>
                </a:extLst>
              </a:tr>
              <a:tr h="11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 Quality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shortest paths, not always safe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Sometimes longer paths, but safer over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831864"/>
                  </a:ext>
                </a:extLst>
              </a:tr>
              <a:tr h="11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Adaptability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struggles in unseen situations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improves behavior through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5522754"/>
                  </a:ext>
                </a:extLst>
              </a:tr>
              <a:tr h="114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Over Time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but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Starts weak, improves significantly with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316764"/>
                  </a:ext>
                </a:extLst>
              </a:tr>
              <a:tr h="66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Tight Spaces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– prone to self-traps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– learns survival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944520"/>
                  </a:ext>
                </a:extLst>
              </a:tr>
              <a:tr h="66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Light, instant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– neural network +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796520"/>
                  </a:ext>
                </a:extLst>
              </a:tr>
              <a:tr h="66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Predictability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predictable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predictable, dynamic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12203"/>
                  </a:ext>
                </a:extLst>
              </a:tr>
              <a:tr h="66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pathfinding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Long-term survival &amp;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893554"/>
                  </a:ext>
                </a:extLst>
              </a:tr>
              <a:tr h="66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in congested grids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extensive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99842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0ECFFE9-17F8-F756-AA67-218031CEB6C7}"/>
              </a:ext>
            </a:extLst>
          </p:cNvPr>
          <p:cNvSpPr txBox="1"/>
          <p:nvPr/>
        </p:nvSpPr>
        <p:spPr>
          <a:xfrm>
            <a:off x="838201" y="603249"/>
            <a:ext cx="50291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03F94C-8467-1103-FE62-5AE64EADC562}"/>
              </a:ext>
            </a:extLst>
          </p:cNvPr>
          <p:cNvSpPr txBox="1"/>
          <p:nvPr/>
        </p:nvSpPr>
        <p:spPr>
          <a:xfrm>
            <a:off x="419100" y="1567904"/>
            <a:ext cx="17754600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Search-Based Agent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deterministic and predictable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optimal pathfinding.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require training, making it simple and efficient to deploy.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shortest paths in open environments.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adapt to unfamiliar or complex situations.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trapped when the snake occupies a large portion of the grid.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heavily on hand-crafted rules.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Agent (DQN)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advanced survival strategies through repeated gameplay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to dynamic and complex environments more effectively than rule-based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achieving higher long-term performance with sufficient training.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training time and computational resources.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sensitive to reward design, hyperparameters, and exploration strategy.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unpredictable during early training stages.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95F12-47B1-EA90-FFF1-6E3DAC1CF339}"/>
              </a:ext>
            </a:extLst>
          </p:cNvPr>
          <p:cNvSpPr txBox="1"/>
          <p:nvPr/>
        </p:nvSpPr>
        <p:spPr>
          <a:xfrm>
            <a:off x="419100" y="866031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AI Thank You Template for PowerPoint and Google Slides - SlideChef">
            <a:extLst>
              <a:ext uri="{FF2B5EF4-FFF2-40B4-BE49-F238E27FC236}">
                <a16:creationId xmlns:a16="http://schemas.microsoft.com/office/drawing/2014/main" id="{EA8B555F-5523-B2A3-A505-7D54AE17A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1307</Words>
  <Application>Microsoft Office PowerPoint</Application>
  <PresentationFormat>Custom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Wingdings</vt:lpstr>
      <vt:lpstr>Helvetica World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Deliverables</vt:lpstr>
      <vt:lpstr>PowerPoint Presentation</vt:lpstr>
      <vt:lpstr> Search-Based Agent </vt:lpstr>
      <vt:lpstr>PowerPoint Presentation</vt:lpstr>
      <vt:lpstr>Search-Based Pathfinding Workflow  </vt:lpstr>
      <vt:lpstr>    Reinforcement Learning Agent Workflow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Artificial Intelligence and the Snake Game</dc:title>
  <dc:creator>Bharadwaj</dc:creator>
  <dc:description>Presentation - Artificial Intelligence and the Snake Game</dc:description>
  <cp:lastModifiedBy>Gottimukkula Bharadwaj</cp:lastModifiedBy>
  <cp:revision>3</cp:revision>
  <dcterms:created xsi:type="dcterms:W3CDTF">2006-08-16T00:00:00Z</dcterms:created>
  <dcterms:modified xsi:type="dcterms:W3CDTF">2025-12-06T03:31:10Z</dcterms:modified>
  <dc:identifier>DAG6gYkikak</dc:identifier>
</cp:coreProperties>
</file>